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1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nard Salim" userId="455ec28051c8170d" providerId="LiveId" clId="{40F40BBA-2C72-4AFD-B5DD-180E6DA84881}"/>
    <pc:docChg chg="modSld">
      <pc:chgData name="Reynard Salim" userId="455ec28051c8170d" providerId="LiveId" clId="{40F40BBA-2C72-4AFD-B5DD-180E6DA84881}" dt="2026-07-21T17:27:54.351" v="1" actId="1076"/>
      <pc:docMkLst>
        <pc:docMk/>
      </pc:docMkLst>
      <pc:sldChg chg="modSp mod">
        <pc:chgData name="Reynard Salim" userId="455ec28051c8170d" providerId="LiveId" clId="{40F40BBA-2C72-4AFD-B5DD-180E6DA84881}" dt="2026-07-21T17:27:54.351" v="1" actId="1076"/>
        <pc:sldMkLst>
          <pc:docMk/>
          <pc:sldMk cId="0" sldId="256"/>
        </pc:sldMkLst>
        <pc:picChg chg="mod">
          <ac:chgData name="Reynard Salim" userId="455ec28051c8170d" providerId="LiveId" clId="{40F40BBA-2C72-4AFD-B5DD-180E6DA84881}" dt="2026-07-21T17:27:54.351" v="1" actId="1076"/>
          <ac:picMkLst>
            <pc:docMk/>
            <pc:sldMk cId="0" sldId="256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40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plan smarter, spend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overspend stat, then the three root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pillars of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platform vs AI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the three biggest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slide: transparent logo file plus the reusable icon-circle template used across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expressions built from the same shape vocabulary — reuse across slides and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divider — swap the title/subtitle per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warm — thank the room, leave contact info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072A20">
                  <a:alpha val="100000"/>
                </a:srgbClr>
              </a:gs>
              <a:gs pos="55000">
                <a:srgbClr val="0B3D2E">
                  <a:alpha val="100000"/>
                </a:srgbClr>
              </a:gs>
              <a:gs pos="100000">
                <a:srgbClr val="0B3D2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10B981">
                  <a:alpha val="40000"/>
                </a:srgbClr>
              </a:gs>
              <a:gs pos="60000">
                <a:srgbClr val="10B981">
                  <a:alpha val="0"/>
                </a:srgbClr>
              </a:gs>
            </a:gsLst>
            <a:path path="circle">
              <a:fillToRect l="88000" t="92000" r="12000" b="8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571500" y="-571500"/>
            <a:ext cx="4000500" cy="40005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0" y="190500"/>
            <a:ext cx="2095500" cy="2095500"/>
          </a:xfrm>
          <a:prstGeom prst="ellipse">
            <a:avLst/>
          </a:prstGeom>
          <a:solidFill>
            <a:srgbClr val="5EEAB0">
              <a:alpha val="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46970"/>
            <a:ext cx="6606774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8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smarter. Spend less.</a:t>
            </a:r>
            <a:endParaRPr lang="en-US" sz="6900" dirty="0"/>
          </a:p>
        </p:txBody>
      </p:sp>
      <p:sp>
        <p:nvSpPr>
          <p:cNvPr id="7" name="Text 5"/>
          <p:cNvSpPr/>
          <p:nvPr/>
        </p:nvSpPr>
        <p:spPr>
          <a:xfrm>
            <a:off x="1143000" y="4015680"/>
            <a:ext cx="70557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grocery + meal planning app that pays for itself.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" y="6425505"/>
            <a:ext cx="7055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50" dirty="0">
                <a:solidFill>
                  <a:srgbClr val="5C8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 DECK · 2026</a:t>
            </a:r>
            <a:endParaRPr lang="en-US" sz="13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4293" y="2415479"/>
            <a:ext cx="3048000" cy="3552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5715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2330053"/>
            <a:ext cx="8382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3282553"/>
            <a:ext cx="5101590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33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prices swing weekly across stores — nobody has time to track it by hand.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589115"/>
            <a:ext cx="510159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33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 info is scattered and inconsistent across labels and store apps.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549057"/>
            <a:ext cx="510159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33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planning and budgeting live in separate, disconnected apps.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39250" y="1619250"/>
            <a:ext cx="4953000" cy="53340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0381208" y="3181350"/>
            <a:ext cx="293599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10056376" y="4838700"/>
            <a:ext cx="33187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grocery overspend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38512" y="5114925"/>
            <a:ext cx="35543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households without a plan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0" y="7419975"/>
            <a:ext cx="8572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95250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1905000"/>
            <a:ext cx="6400800" cy="2369641"/>
          </a:xfrm>
          <a:prstGeom prst="roundRect">
            <a:avLst>
              <a:gd name="adj" fmla="val 884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228850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371600" y="2952750"/>
            <a:ext cx="6328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Compare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3390900"/>
            <a:ext cx="5925693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live prices across nearby stores and pick the cheapest cart.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7791450" y="1905000"/>
            <a:ext cx="6400800" cy="2369641"/>
          </a:xfrm>
          <a:prstGeom prst="roundRect">
            <a:avLst>
              <a:gd name="adj" fmla="val 884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15300" y="2228850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8115300" y="2952750"/>
            <a:ext cx="6328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 Guard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115300" y="3390900"/>
            <a:ext cx="5925693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ingredients against your profile automatically, every time.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47750" y="4617541"/>
            <a:ext cx="6400800" cy="2089696"/>
          </a:xfrm>
          <a:prstGeom prst="roundRect">
            <a:avLst>
              <a:gd name="adj" fmla="val 10028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941391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1371600" y="5665291"/>
            <a:ext cx="6328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Plans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71600" y="6103441"/>
            <a:ext cx="632841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plans built around what's actually on sale near you.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7791450" y="4617541"/>
            <a:ext cx="6400800" cy="2089696"/>
          </a:xfrm>
          <a:prstGeom prst="roundRect">
            <a:avLst>
              <a:gd name="adj" fmla="val 10028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5300" y="4941391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8115300" y="5665291"/>
            <a:ext cx="63284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Tracker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115300" y="6103441"/>
            <a:ext cx="6328410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grocery spend trend down, week over week.</a:t>
            </a:r>
            <a:endParaRPr lang="en-US" sz="1575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0" y="7419975"/>
            <a:ext cx="8572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-95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95250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095500"/>
            <a:ext cx="2430661" cy="238125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314450" y="2362200"/>
            <a:ext cx="208698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14450" y="3476625"/>
            <a:ext cx="2086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profile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14450" y="3790950"/>
            <a:ext cx="20869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allergens + budget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707011" y="2095500"/>
            <a:ext cx="246891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2761" y="2381250"/>
            <a:ext cx="208715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992761" y="3495675"/>
            <a:ext cx="20871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prices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3992761" y="3810000"/>
            <a:ext cx="2087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nearby stores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6404521" y="2095500"/>
            <a:ext cx="2430810" cy="238125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6671221" y="2362200"/>
            <a:ext cx="208715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671221" y="3476625"/>
            <a:ext cx="20871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plan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671221" y="3790950"/>
            <a:ext cx="19736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weekly meals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9063930" y="2095500"/>
            <a:ext cx="246891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9680" y="2381250"/>
            <a:ext cx="208715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349680" y="3495675"/>
            <a:ext cx="20871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smart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349680" y="3810000"/>
            <a:ext cx="19736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cart, split by store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11761440" y="2095500"/>
            <a:ext cx="2430810" cy="238125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2028140" y="2362200"/>
            <a:ext cx="208715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2028140" y="3476625"/>
            <a:ext cx="20871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savings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2028140" y="3790950"/>
            <a:ext cx="2087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spend drop</a:t>
            </a:r>
            <a:endParaRPr lang="en-US" sz="1275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0" y="7419975"/>
            <a:ext cx="8572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95250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1905000"/>
            <a:ext cx="6381750" cy="3257550"/>
          </a:xfrm>
          <a:prstGeom prst="roundRect">
            <a:avLst>
              <a:gd name="adj" fmla="val 8187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428750" y="2286000"/>
            <a:ext cx="6181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28750" y="29241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638300" y="2838450"/>
            <a:ext cx="23027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428750" y="33432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1638300" y="3257550"/>
            <a:ext cx="21806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GraphQL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428750" y="37623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638300" y="3676650"/>
            <a:ext cx="22711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428750" y="41814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1638300" y="4095750"/>
            <a:ext cx="21539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infrastructure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1428750" y="46005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1638300" y="4514850"/>
            <a:ext cx="22893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Plaid for price feeds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7810500" y="1905000"/>
            <a:ext cx="6381750" cy="3257550"/>
          </a:xfrm>
          <a:prstGeom prst="roundRect">
            <a:avLst>
              <a:gd name="adj" fmla="val 8187"/>
            </a:avLst>
          </a:prstGeom>
          <a:gradFill rotWithShape="1">
            <a:gsLst>
              <a:gs pos="0">
                <a:srgbClr val="0F4635">
                  <a:alpha val="100000"/>
                </a:srgbClr>
              </a:gs>
              <a:gs pos="100000">
                <a:srgbClr val="072A2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8191500" y="2286000"/>
            <a:ext cx="61817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gradFill rotWithShape="1">
                  <a:gsLst>
                    <a:gs pos="0">
                      <a:srgbClr val="F9C05B">
                        <a:alpha val="100000"/>
                      </a:srgbClr>
                    </a:gs>
                    <a:gs pos="100000">
                      <a:srgbClr val="F5A623">
                        <a:alpha val="100000"/>
                      </a:srgbClr>
                    </a:gs>
                  </a:gsLst>
                  <a:lin ang="27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8191500" y="29241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401050" y="2838450"/>
            <a:ext cx="28431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for meal planning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8191500" y="33432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401050" y="3257550"/>
            <a:ext cx="2563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prediction model</a:t>
            </a:r>
            <a:endParaRPr lang="en-US" sz="1725" dirty="0"/>
          </a:p>
        </p:txBody>
      </p:sp>
      <p:sp>
        <p:nvSpPr>
          <p:cNvPr id="23" name="Shape 21"/>
          <p:cNvSpPr/>
          <p:nvPr/>
        </p:nvSpPr>
        <p:spPr>
          <a:xfrm>
            <a:off x="8191500" y="37623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401050" y="3676650"/>
            <a:ext cx="24769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receipt scanning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8191500" y="41814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8401050" y="4095750"/>
            <a:ext cx="23066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Allergen-aware recs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8191500" y="4600575"/>
            <a:ext cx="95250" cy="9525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8401050" y="4514850"/>
            <a:ext cx="2194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engine</a:t>
            </a:r>
            <a:endParaRPr lang="en-US" sz="1725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0" y="7419975"/>
            <a:ext cx="8572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95250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1905000"/>
            <a:ext cx="131445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90750"/>
            <a:ext cx="13746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"Price data changes hourly."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2590800"/>
            <a:ext cx="13746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thousands of store feeds in sync in near real time is a constant pipeline problem.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047750" y="3343275"/>
            <a:ext cx="131445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629025"/>
            <a:ext cx="13746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"Allergen labeling isn't standardized."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71600" y="4029075"/>
            <a:ext cx="13746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retailer formats ingredient data differently, so our matching has to stay conservative and clear.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047750" y="4781550"/>
            <a:ext cx="13144500" cy="120967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067300"/>
            <a:ext cx="13746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"Trust takes time to earn."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" y="5467350"/>
            <a:ext cx="13746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cautious with allergy and money data — accuracy has to come before growth.</a:t>
            </a:r>
            <a:endParaRPr lang="en-US" sz="157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01750" y="7419975"/>
            <a:ext cx="85725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66675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Assets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1314450"/>
            <a:ext cx="14458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logo file + the reusable icon template for new slides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47750" y="1809750"/>
            <a:ext cx="2895600" cy="2228850"/>
          </a:xfrm>
          <a:prstGeom prst="roundRect">
            <a:avLst>
              <a:gd name="adj" fmla="val 8547"/>
            </a:avLst>
          </a:prstGeom>
          <a:gradFill rotWithShape="1">
            <a:gsLst>
              <a:gs pos="25000">
                <a:srgbClr val="EDEEEB">
                  <a:alpha val="100000"/>
                </a:srgbClr>
              </a:gs>
              <a:gs pos="25000">
                <a:srgbClr val="EDEEEB">
                  <a:alpha val="0"/>
                </a:srgbClr>
              </a:gs>
            </a:gsLst>
            <a:lin ang="18900000" scaled="0"/>
          </a:gradFill>
          <a:ln w="19050">
            <a:solidFill>
              <a:srgbClr val="E4E8E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1175" y="2090738"/>
            <a:ext cx="1428750" cy="16668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29100" y="1809750"/>
            <a:ext cx="3143250" cy="222885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34025" y="2495550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0" name="Text 7"/>
          <p:cNvSpPr/>
          <p:nvPr/>
        </p:nvSpPr>
        <p:spPr>
          <a:xfrm>
            <a:off x="4837286" y="3162300"/>
            <a:ext cx="19268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56px, amber gradient fill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58100" y="1809750"/>
            <a:ext cx="3143250" cy="2228850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43975" y="2476500"/>
            <a:ext cx="571500" cy="571500"/>
          </a:xfrm>
          <a:prstGeom prst="ellipse">
            <a:avLst/>
          </a:prstGeom>
          <a:ln w="19050">
            <a:solidFill>
              <a:srgbClr val="F5A623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8055270" y="3181350"/>
            <a:ext cx="23487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slot — drop glyph here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087100" y="1809750"/>
            <a:ext cx="3105150" cy="2228850"/>
          </a:xfrm>
          <a:prstGeom prst="roundRect">
            <a:avLst>
              <a:gd name="adj" fmla="val 8547"/>
            </a:avLst>
          </a:prstGeom>
          <a:gradFill rotWithShape="1">
            <a:gsLst>
              <a:gs pos="0">
                <a:srgbClr val="5EEAB0">
                  <a:alpha val="100000"/>
                </a:srgbClr>
              </a:gs>
              <a:gs pos="55000">
                <a:srgbClr val="10B981">
                  <a:alpha val="100000"/>
                </a:srgbClr>
              </a:gs>
              <a:gs pos="100000">
                <a:srgbClr val="0B3D2E">
                  <a:alpha val="100000"/>
                </a:srgbClr>
              </a:gs>
            </a:gsLst>
            <a:path path="circle">
              <a:fillToRect l="32000" t="28000" r="68000" b="72000"/>
            </a:path>
          </a:gradFill>
          <a:ln/>
        </p:spPr>
      </p:sp>
      <p:sp>
        <p:nvSpPr>
          <p:cNvPr id="15" name="Shape 12"/>
          <p:cNvSpPr/>
          <p:nvPr/>
        </p:nvSpPr>
        <p:spPr>
          <a:xfrm>
            <a:off x="12372975" y="2495550"/>
            <a:ext cx="533400" cy="5334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11685248" y="3162300"/>
            <a:ext cx="19087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icon, on dark card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47750" y="4286250"/>
            <a:ext cx="144589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STATES — FOR TAPPABLE ICON BUTTONS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1047750" y="4562475"/>
            <a:ext cx="25146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95500" y="4733925"/>
            <a:ext cx="419100" cy="4191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0" name="Text 17"/>
          <p:cNvSpPr/>
          <p:nvPr/>
        </p:nvSpPr>
        <p:spPr>
          <a:xfrm>
            <a:off x="2078534" y="5248275"/>
            <a:ext cx="52908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714750" y="4562475"/>
            <a:ext cx="25146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24400" y="4733925"/>
            <a:ext cx="495300" cy="4953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09170" y="5324475"/>
            <a:ext cx="145817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— scale + ring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381750" y="4562475"/>
            <a:ext cx="25146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48550" y="4733925"/>
            <a:ext cx="381000" cy="38100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6" name="Text 23"/>
          <p:cNvSpPr/>
          <p:nvPr/>
        </p:nvSpPr>
        <p:spPr>
          <a:xfrm>
            <a:off x="6976914" y="5210175"/>
            <a:ext cx="1456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— deep forest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048750" y="4562475"/>
            <a:ext cx="25146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96500" y="4733925"/>
            <a:ext cx="419100" cy="419100"/>
          </a:xfrm>
          <a:prstGeom prst="ellipse">
            <a:avLst/>
          </a:prstGeom>
          <a:solidFill>
            <a:srgbClr val="D7DAD5"/>
          </a:solidFill>
          <a:ln/>
        </p:spPr>
      </p:sp>
      <p:sp>
        <p:nvSpPr>
          <p:cNvPr id="29" name="Text 26"/>
          <p:cNvSpPr/>
          <p:nvPr/>
        </p:nvSpPr>
        <p:spPr>
          <a:xfrm>
            <a:off x="9592866" y="5248275"/>
            <a:ext cx="15690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— 100% gray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1715750" y="4562475"/>
            <a:ext cx="2476500" cy="1095375"/>
          </a:xfrm>
          <a:prstGeom prst="roundRect">
            <a:avLst>
              <a:gd name="adj" fmla="val 13913"/>
            </a:avLst>
          </a:prstGeom>
          <a:gradFill rotWithShape="1">
            <a:gsLst>
              <a:gs pos="0">
                <a:srgbClr val="5EEAB0">
                  <a:alpha val="100000"/>
                </a:srgbClr>
              </a:gs>
              <a:gs pos="55000">
                <a:srgbClr val="10B981">
                  <a:alpha val="100000"/>
                </a:srgbClr>
              </a:gs>
              <a:gs pos="100000">
                <a:srgbClr val="0B3D2E">
                  <a:alpha val="100000"/>
                </a:srgbClr>
              </a:gs>
            </a:gsLst>
            <a:path path="circle">
              <a:fillToRect l="32000" t="28000" r="68000" b="72000"/>
            </a:path>
          </a:gradFill>
          <a:ln/>
        </p:spPr>
      </p:sp>
      <p:sp>
        <p:nvSpPr>
          <p:cNvPr id="31" name="Shape 28"/>
          <p:cNvSpPr/>
          <p:nvPr/>
        </p:nvSpPr>
        <p:spPr>
          <a:xfrm>
            <a:off x="12744450" y="4714875"/>
            <a:ext cx="419100" cy="419100"/>
          </a:xfrm>
          <a:prstGeom prst="ellipse">
            <a:avLst/>
          </a:prstGeom>
          <a:gradFill rotWithShape="1">
            <a:gsLst>
              <a:gs pos="0">
                <a:srgbClr val="F9C05B">
                  <a:alpha val="100000"/>
                </a:srgbClr>
              </a:gs>
              <a:gs pos="100000">
                <a:srgbClr val="F5A623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2" name="Text 29"/>
          <p:cNvSpPr/>
          <p:nvPr/>
        </p:nvSpPr>
        <p:spPr>
          <a:xfrm>
            <a:off x="12335024" y="5229225"/>
            <a:ext cx="13617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— on dark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47750" y="5905500"/>
            <a:ext cx="14458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template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047750" y="6229350"/>
            <a:ext cx="144589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56px amber circle top-left of any new card, title in Poppins 700, 2-line description in Inter below it — matches the Solution and How It Works slides.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3" name="Shape 1"/>
          <p:cNvSpPr/>
          <p:nvPr/>
        </p:nvSpPr>
        <p:spPr>
          <a:xfrm>
            <a:off x="12382500" y="-9525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571500"/>
            <a:ext cx="144589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 Library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1219200"/>
            <a:ext cx="14458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expressions, one shape vocabulary — mix into any slide or marketing surface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47750" y="1733550"/>
            <a:ext cx="2031950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2151" y="1905000"/>
            <a:ext cx="1143000" cy="1333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85801" y="3295650"/>
            <a:ext cx="43189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74748" y="3467100"/>
            <a:ext cx="13779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watermarks, idle states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70200" y="1733550"/>
            <a:ext cx="2031950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601" y="1905000"/>
            <a:ext cx="1143000" cy="1333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5836" y="3295650"/>
            <a:ext cx="5167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6112" y="3467100"/>
            <a:ext cx="12601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dividers, logo lockups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92651" y="1733550"/>
            <a:ext cx="2031950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7052" y="1905000"/>
            <a:ext cx="1143000" cy="1333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8669" y="3295650"/>
            <a:ext cx="57596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937200" y="3467100"/>
            <a:ext cx="11428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closing slides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715101" y="1733550"/>
            <a:ext cx="2032099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9651" y="1905000"/>
            <a:ext cx="1143000" cy="1333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60135" y="3295650"/>
            <a:ext cx="6182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Winking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155484" y="3467100"/>
            <a:ext cx="11511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tips, playful callouts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9937700" y="1733550"/>
            <a:ext cx="2031950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82101" y="1905000"/>
            <a:ext cx="1143000" cy="13335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720685" y="3295650"/>
            <a:ext cx="5421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335369" y="3467100"/>
            <a:ext cx="12366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empty states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2160151" y="1733550"/>
            <a:ext cx="2031950" cy="204787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E4E8E3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04552" y="1905000"/>
            <a:ext cx="1143000" cy="13335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849969" y="3295650"/>
            <a:ext cx="7285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Surprised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2652474" y="3467100"/>
            <a:ext cx="10471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deals, price drops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47750" y="4124325"/>
            <a:ext cx="14458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pose</a:t>
            </a:r>
            <a:endParaRPr lang="en-US" sz="1650" dirty="0"/>
          </a:p>
        </p:txBody>
      </p:sp>
      <p:sp>
        <p:nvSpPr>
          <p:cNvPr id="31" name="Text 23"/>
          <p:cNvSpPr/>
          <p:nvPr/>
        </p:nvSpPr>
        <p:spPr>
          <a:xfrm>
            <a:off x="1047750" y="4448175"/>
            <a:ext cx="1445895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body, gloss highlight and leaf-hair fixed — only swap eyes, brows and mouth to create a new expression. It always reads as the same character.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072A20">
                  <a:alpha val="100000"/>
                </a:srgbClr>
              </a:gs>
              <a:gs pos="55000">
                <a:srgbClr val="0B3D2E">
                  <a:alpha val="100000"/>
                </a:srgbClr>
              </a:gs>
              <a:gs pos="100000">
                <a:srgbClr val="0B3D2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10B981">
                  <a:alpha val="40000"/>
                </a:srgbClr>
              </a:gs>
              <a:gs pos="60000">
                <a:srgbClr val="10B981">
                  <a:alpha val="0"/>
                </a:srgbClr>
              </a:gs>
            </a:gsLst>
            <a:path path="circle">
              <a:fillToRect l="88000" t="92000" r="12000" b="8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0096500" y="190500"/>
            <a:ext cx="2476500" cy="2476500"/>
          </a:xfrm>
          <a:prstGeom prst="ellipse">
            <a:avLst/>
          </a:prstGeom>
          <a:solidFill>
            <a:srgbClr val="5EEAB0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6477000"/>
            <a:ext cx="2095500" cy="20955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500" y="2505075"/>
            <a:ext cx="1905000" cy="2219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4342" y="4953000"/>
            <a:ext cx="529244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 Here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417046" y="5772150"/>
            <a:ext cx="48464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this line for any section subtitle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072A20">
                  <a:alpha val="100000"/>
                </a:srgbClr>
              </a:gs>
              <a:gs pos="55000">
                <a:srgbClr val="0B3D2E">
                  <a:alpha val="100000"/>
                </a:srgbClr>
              </a:gs>
              <a:gs pos="100000">
                <a:srgbClr val="0B3D2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10B981">
                  <a:alpha val="40000"/>
                </a:srgbClr>
              </a:gs>
              <a:gs pos="60000">
                <a:srgbClr val="10B981">
                  <a:alpha val="0"/>
                </a:srgbClr>
              </a:gs>
            </a:gsLst>
            <a:path path="circle">
              <a:fillToRect l="88000" t="92000" r="12000" b="8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333500" y="190500"/>
            <a:ext cx="2095500" cy="2095500"/>
          </a:xfrm>
          <a:prstGeom prst="ellipse">
            <a:avLst/>
          </a:prstGeom>
          <a:solidFill>
            <a:srgbClr val="10B981">
              <a:alpha val="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771775"/>
            <a:ext cx="558057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143000" y="3895725"/>
            <a:ext cx="55805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B7E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smarter grocery cart together.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4762500"/>
            <a:ext cx="55805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plantry.app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143000" y="5153025"/>
            <a:ext cx="55805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hello@plantry.app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43000" y="5543550"/>
            <a:ext cx="558057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@plantry</a:t>
            </a:r>
            <a:endParaRPr lang="en-US" sz="172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500" y="2176463"/>
            <a:ext cx="3619500" cy="4219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Custom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Reynard Salim</cp:lastModifiedBy>
  <cp:revision>1</cp:revision>
  <dcterms:created xsi:type="dcterms:W3CDTF">2026-07-21T17:27:36Z</dcterms:created>
  <dcterms:modified xsi:type="dcterms:W3CDTF">2026-07-21T17:27:57Z</dcterms:modified>
</cp:coreProperties>
</file>